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3" r:id="rId1"/>
  </p:sldMasterIdLst>
  <p:notesMasterIdLst>
    <p:notesMasterId r:id="rId23"/>
  </p:notesMasterIdLst>
  <p:sldIdLst>
    <p:sldId id="266" r:id="rId2"/>
    <p:sldId id="273" r:id="rId3"/>
    <p:sldId id="288" r:id="rId4"/>
    <p:sldId id="287" r:id="rId5"/>
    <p:sldId id="297" r:id="rId6"/>
    <p:sldId id="298" r:id="rId7"/>
    <p:sldId id="299" r:id="rId8"/>
    <p:sldId id="291" r:id="rId9"/>
    <p:sldId id="285" r:id="rId10"/>
    <p:sldId id="302" r:id="rId11"/>
    <p:sldId id="306" r:id="rId12"/>
    <p:sldId id="307" r:id="rId13"/>
    <p:sldId id="308" r:id="rId14"/>
    <p:sldId id="309" r:id="rId15"/>
    <p:sldId id="300" r:id="rId16"/>
    <p:sldId id="301" r:id="rId17"/>
    <p:sldId id="303" r:id="rId18"/>
    <p:sldId id="304" r:id="rId19"/>
    <p:sldId id="305" r:id="rId20"/>
    <p:sldId id="310" r:id="rId21"/>
    <p:sldId id="272" r:id="rId22"/>
  </p:sldIdLst>
  <p:sldSz cx="12192000" cy="6858000"/>
  <p:notesSz cx="6858000" cy="9144000"/>
  <p:defaultTextStyle>
    <a:defPPr>
      <a:defRPr lang="en-K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97"/>
    <p:restoredTop sz="94578"/>
  </p:normalViewPr>
  <p:slideViewPr>
    <p:cSldViewPr snapToGrid="0">
      <p:cViewPr varScale="1">
        <p:scale>
          <a:sx n="160" d="100"/>
          <a:sy n="160" d="100"/>
        </p:scale>
        <p:origin x="4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21FB96-3E69-644F-A6CD-669250532EEB}" type="datetimeFigureOut">
              <a:rPr lang="en-KH" smtClean="0"/>
              <a:t>25/10/25</a:t>
            </a:fld>
            <a:endParaRPr lang="en-K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4439C-3DC1-4B40-BD3C-F7184AEDB932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1491803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A3D4A-84FC-FCD2-52EE-E50A04415A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519FA6-C2F8-41BE-DC9B-146B4A3B4F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3F9E4-EDE3-6E43-F14F-F2F54EBFA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F56E6-63CC-6947-A5DE-2FB093C57396}" type="datetimeFigureOut">
              <a:rPr lang="en-KH" smtClean="0"/>
              <a:t>25/10/25</a:t>
            </a:fld>
            <a:endParaRPr lang="en-K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C90278-4DA8-7328-6023-C9F83CAE5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C7FEB-B129-B11A-E8DE-71D6949FB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7FE9D-CDDF-6545-A2FE-AD0734D84692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243261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3BA09-429C-0D0C-FA23-F9A39D684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EB2B7-13F1-3662-5AB8-A53C426B2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20B47-0C79-D382-1BF3-3A1FC3669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F56E6-63CC-6947-A5DE-2FB093C57396}" type="datetimeFigureOut">
              <a:rPr lang="en-KH" smtClean="0"/>
              <a:t>25/10/25</a:t>
            </a:fld>
            <a:endParaRPr lang="en-K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924E26-72B7-6923-0069-EB7471715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F0598-DF27-E151-81E1-3EFEB43CF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7FE9D-CDDF-6545-A2FE-AD0734D84692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2345864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7AB39-52E2-6FE5-77E8-1E719B28D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DE4E62-5F4B-CDE0-FA82-272CA2801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539AE-D1B5-F09A-215F-13F724442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F56E6-63CC-6947-A5DE-2FB093C57396}" type="datetimeFigureOut">
              <a:rPr lang="en-KH" smtClean="0"/>
              <a:t>25/10/25</a:t>
            </a:fld>
            <a:endParaRPr lang="en-K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47B1A-2E5D-64E7-A0C2-AAAF69834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EE52A-E053-871A-D827-13880029B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7FE9D-CDDF-6545-A2FE-AD0734D84692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938557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FB15D-4F2A-D9FB-34F1-B7A0155B9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9FCFF-25CC-3E1E-9798-3093CAEC89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500269-7ECE-9AE8-FB7F-C16FB7CC36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D317E8-17CF-0895-D1F8-4CB8F0F0F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F56E6-63CC-6947-A5DE-2FB093C57396}" type="datetimeFigureOut">
              <a:rPr lang="en-KH" smtClean="0"/>
              <a:t>25/10/25</a:t>
            </a:fld>
            <a:endParaRPr lang="en-K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87C9B7-B6A6-3509-0D61-56CE82E9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12ABF4-8C69-8287-ED1D-48B6A8BEE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7FE9D-CDDF-6545-A2FE-AD0734D84692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2681000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733FB-392C-778D-69B3-B632A9343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2D3B4B-C4C7-186A-CAE6-EAFDBD0642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78FE22-699E-F7F6-73B1-1D4512E513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FDDF38-1B1E-9FDD-3D6B-27148D99AA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41AE98-3903-EF7E-D48B-0268242B84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807D81-77A0-9C2A-3992-F323C93D5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F56E6-63CC-6947-A5DE-2FB093C57396}" type="datetimeFigureOut">
              <a:rPr lang="en-KH" smtClean="0"/>
              <a:t>25/10/25</a:t>
            </a:fld>
            <a:endParaRPr lang="en-K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1B9EA3-1CD1-9DBB-2912-833D96E5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4BAF5B-B68E-32E9-F34F-52424BA59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7FE9D-CDDF-6545-A2FE-AD0734D84692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011742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1081B-1DCB-8E6D-F975-E0D4A4EC1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7D8E3E-BC4A-F31E-14C3-ECA7F4B37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F56E6-63CC-6947-A5DE-2FB093C57396}" type="datetimeFigureOut">
              <a:rPr lang="en-KH" smtClean="0"/>
              <a:t>25/10/25</a:t>
            </a:fld>
            <a:endParaRPr lang="en-K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6BF5FF-BC04-DC4D-048D-41EEFCCE3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9668E2-6AE6-DA5E-3728-4672B5D55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7FE9D-CDDF-6545-A2FE-AD0734D84692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1140553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10D6DC-D167-451A-F0F7-146DC5E75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F56E6-63CC-6947-A5DE-2FB093C57396}" type="datetimeFigureOut">
              <a:rPr lang="en-KH" smtClean="0"/>
              <a:t>25/10/25</a:t>
            </a:fld>
            <a:endParaRPr lang="en-K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7C233D-0F6B-976E-1B1B-01C53514D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409FD4-047A-FFDD-AADE-98EC3B46A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7FE9D-CDDF-6545-A2FE-AD0734D84692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1586257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84805-25B4-E708-14D4-1AFB7217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1CCD0-32E6-D5A0-44AA-9E9955800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0CB176-09BD-A53C-5FEB-1E7DD6805B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3A849A-4ACB-BAC0-5E3D-973F547D6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F56E6-63CC-6947-A5DE-2FB093C57396}" type="datetimeFigureOut">
              <a:rPr lang="en-KH" smtClean="0"/>
              <a:t>25/10/25</a:t>
            </a:fld>
            <a:endParaRPr lang="en-K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2FE22C-0FCF-0E95-8025-89DFAFC97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5107DE-2D84-502B-7951-536DC7BE9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7FE9D-CDDF-6545-A2FE-AD0734D84692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517355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8949B-49DE-E465-CD68-B275663E0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0B859A-FE1C-CF6A-9D1A-ADE60D5AEC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F62D77-C820-DBDF-C163-50B56754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FF87F3-2C40-1AEA-3356-DB3465EDD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F56E6-63CC-6947-A5DE-2FB093C57396}" type="datetimeFigureOut">
              <a:rPr lang="en-KH" smtClean="0"/>
              <a:t>25/10/25</a:t>
            </a:fld>
            <a:endParaRPr lang="en-K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7487B-3A4B-4A55-CF97-FEBED01CE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1377E-0B32-E646-1B16-68DC5924F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7FE9D-CDDF-6545-A2FE-AD0734D84692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14361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10F22-08C5-B12A-976C-17B81905B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E07E3F-F8A0-E305-6876-B5F579C91B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AACF3-097D-3F4E-5A53-F8B7ABAE3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F56E6-63CC-6947-A5DE-2FB093C57396}" type="datetimeFigureOut">
              <a:rPr lang="en-KH" smtClean="0"/>
              <a:t>25/10/25</a:t>
            </a:fld>
            <a:endParaRPr lang="en-K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3820A0-447C-7D71-7A56-9093D2381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D1BF4-37DF-0333-B1BD-AEC78C2A7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7FE9D-CDDF-6545-A2FE-AD0734D84692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1071591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56D371-341D-58CF-9EE9-624DAB1BD8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C35A7D-DFE9-71D0-9FED-55F997B8A5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A43DB-82E6-5CE9-13C6-F4A51F6E3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F56E6-63CC-6947-A5DE-2FB093C57396}" type="datetimeFigureOut">
              <a:rPr lang="en-KH" smtClean="0"/>
              <a:t>25/10/25</a:t>
            </a:fld>
            <a:endParaRPr lang="en-K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BFBA3-74C5-231F-B398-AFFB00C4E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C3788-5659-E37C-E5C1-517063D0A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7FE9D-CDDF-6545-A2FE-AD0734D84692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2595374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14A396-6911-55BE-78D7-BB8ADD331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7D7AAD-B9BB-2BB2-3DCC-286A11719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68C7C-9E2D-1F99-D2BF-FFF9AD89D8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1F56E6-63CC-6947-A5DE-2FB093C57396}" type="datetimeFigureOut">
              <a:rPr lang="en-KH" smtClean="0"/>
              <a:t>25/10/25</a:t>
            </a:fld>
            <a:endParaRPr lang="en-K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42510-E76D-EAAF-53AF-7F820C6C00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K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E8121-976E-D1D8-D6EE-305DFDE451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B7FE9D-CDDF-6545-A2FE-AD0734D84692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1916040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Asia Euro University">
            <a:extLst>
              <a:ext uri="{FF2B5EF4-FFF2-40B4-BE49-F238E27FC236}">
                <a16:creationId xmlns:a16="http://schemas.microsoft.com/office/drawing/2014/main" id="{3E80203A-431F-974D-2612-238CCCA737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396" y="721686"/>
            <a:ext cx="3196098" cy="1017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2D57331C-9CE0-2274-6034-5D4317670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0508" y="269557"/>
            <a:ext cx="3342903" cy="8656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3429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None/>
              <a:tabLst>
                <a:tab pos="675085" algn="ctr"/>
                <a:tab pos="3443288" algn="ctr"/>
              </a:tabLst>
              <a:defRPr/>
            </a:pPr>
            <a:r>
              <a:rPr kumimoji="0" lang="km-KH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hmer OS Muol Light" pitchFamily="2" charset="0"/>
                <a:ea typeface="Times New Roman" pitchFamily="18" charset="0"/>
                <a:cs typeface="Khmer OS Muol Light" pitchFamily="2" charset="0"/>
                <a:sym typeface="Arial"/>
              </a:rPr>
              <a:t>ព្រះរាជាណាចក្រកម្ពុជា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hmer OS Muol Light" pitchFamily="2" charset="0"/>
              <a:ea typeface="Times New Roman" pitchFamily="18" charset="0"/>
              <a:cs typeface="Khmer OS Muol Light" pitchFamily="2" charset="0"/>
              <a:sym typeface="Arial"/>
            </a:endParaRPr>
          </a:p>
          <a:p>
            <a:pPr marL="0" marR="0" lvl="0" indent="0" algn="ctr" defTabSz="3429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None/>
              <a:tabLst>
                <a:tab pos="675085" algn="ctr"/>
                <a:tab pos="3443288" algn="ctr"/>
              </a:tabLst>
              <a:defRPr/>
            </a:pPr>
            <a:r>
              <a:rPr kumimoji="0" lang="km-KH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hmer OS Muol Light" pitchFamily="2" charset="0"/>
                <a:ea typeface="Times New Roman" pitchFamily="18" charset="0"/>
                <a:cs typeface="Khmer OS Muol Light" pitchFamily="2" charset="0"/>
                <a:sym typeface="Arial"/>
              </a:rPr>
              <a:t>ជាតិ សាសនា ព្រះមហាក្សត្រ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hmer OS Muol Light" pitchFamily="2" charset="0"/>
                <a:ea typeface="+mn-ea"/>
                <a:cs typeface="Khmer OS Muol Light" pitchFamily="2" charset="0"/>
                <a:sym typeface="Arial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CB04C6-7B5D-1918-EB85-19922C2FB2AE}"/>
              </a:ext>
            </a:extLst>
          </p:cNvPr>
          <p:cNvSpPr txBox="1"/>
          <p:nvPr/>
        </p:nvSpPr>
        <p:spPr>
          <a:xfrm>
            <a:off x="3090017" y="1856645"/>
            <a:ext cx="601203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>
                <a:latin typeface="Arial Black" panose="020B0A04020102020204" pitchFamily="34" charset="0"/>
                <a:cs typeface="Khmer OS Siemreap" panose="02000500000000000000" pitchFamily="2" charset="0"/>
              </a:rPr>
              <a:t>Khmer Text Summarizer</a:t>
            </a:r>
          </a:p>
          <a:p>
            <a:pPr algn="ctr"/>
            <a:r>
              <a:rPr lang="en-GB" sz="3200" dirty="0">
                <a:latin typeface="Arial Black" panose="020B0A04020102020204" pitchFamily="34" charset="0"/>
                <a:cs typeface="Khmer OS Siemreap" panose="02000500000000000000" pitchFamily="2" charset="0"/>
              </a:rPr>
              <a:t>Using Java, Flutter and AI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E1ACD71-DF29-46CD-1C40-6AA08DCF79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7112786"/>
              </p:ext>
            </p:extLst>
          </p:nvPr>
        </p:nvGraphicFramePr>
        <p:xfrm>
          <a:off x="2031996" y="4218861"/>
          <a:ext cx="8128000" cy="27771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81450853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73059921"/>
                    </a:ext>
                  </a:extLst>
                </a:gridCol>
              </a:tblGrid>
              <a:tr h="641664">
                <a:tc>
                  <a:txBody>
                    <a:bodyPr/>
                    <a:lstStyle/>
                    <a:p>
                      <a:pPr marL="11113" marR="0" lvl="1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prstClr val="black"/>
                          </a:solidFill>
                          <a:latin typeface="Khmer OS Muol Light" panose="02000500000000020004" pitchFamily="2" charset="0"/>
                          <a:cs typeface="Khmer OS Muol Light" panose="02000500000000020004" pitchFamily="2" charset="0"/>
                        </a:rPr>
                        <a:t>បទបង្ហាញដោយ</a:t>
                      </a:r>
                      <a:r>
                        <a:rPr lang="km-KH" sz="1200" dirty="0">
                          <a:solidFill>
                            <a:prstClr val="black"/>
                          </a:solidFill>
                          <a:latin typeface="Khmer OS Muol Light" panose="02000500000000020004" pitchFamily="2" charset="0"/>
                          <a:cs typeface="Khmer OS Muol Light" panose="02000500000000020004" pitchFamily="2" charset="0"/>
                        </a:rPr>
                        <a:t>៖</a:t>
                      </a:r>
                      <a:r>
                        <a:rPr lang="en-US" sz="1200" dirty="0">
                          <a:solidFill>
                            <a:prstClr val="black"/>
                          </a:solidFill>
                          <a:latin typeface="Khmer OS Muol Light" panose="02000500000000020004" pitchFamily="2" charset="0"/>
                          <a:cs typeface="Khmer OS Muol Light" panose="02000500000000020004" pitchFamily="2" charset="0"/>
                        </a:rPr>
                        <a:t> </a:t>
                      </a:r>
                    </a:p>
                    <a:p>
                      <a:pPr marL="182563" marR="0" lvl="1" indent="-1714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KH" sz="1200" b="0" dirty="0">
                          <a:solidFill>
                            <a:prstClr val="black"/>
                          </a:solidFill>
                          <a:latin typeface="Khmer OS Muol Light" panose="02000500000000020004" pitchFamily="2" charset="0"/>
                          <a:cs typeface="Khmer OS Muol Light" panose="02000500000000020004" pitchFamily="2" charset="0"/>
                        </a:rPr>
                        <a:t>និសិត្ស សុខ វ៉ាន់ដេត</a:t>
                      </a:r>
                    </a:p>
                    <a:p>
                      <a:pPr marL="182563" marR="0" lvl="1" indent="-1714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KH" sz="1200" b="0" kern="1200" dirty="0">
                          <a:solidFill>
                            <a:prstClr val="black"/>
                          </a:solidFill>
                          <a:latin typeface="Khmer OS Muol Light" panose="02000500000000020004" pitchFamily="2" charset="0"/>
                          <a:cs typeface="Khmer OS Muol Light" panose="02000500000000020004" pitchFamily="2" charset="0"/>
                        </a:rPr>
                        <a:t>និសិត្ស ចែម ស៊ីដេត</a:t>
                      </a:r>
                    </a:p>
                    <a:p>
                      <a:pPr marL="182563" marR="0" lvl="1" indent="-1714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KH" sz="1200" b="0" kern="1200" dirty="0">
                          <a:solidFill>
                            <a:prstClr val="black"/>
                          </a:solidFill>
                          <a:latin typeface="Khmer OS Muol Light" panose="02000500000000020004" pitchFamily="2" charset="0"/>
                          <a:cs typeface="Khmer OS Muol Light" panose="02000500000000020004" pitchFamily="2" charset="0"/>
                        </a:rPr>
                        <a:t>និសិត្ស រ៉ា បូរី</a:t>
                      </a:r>
                    </a:p>
                    <a:p>
                      <a:pPr marL="182563" marR="0" lvl="1" indent="-1714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KH" sz="1200" b="0" kern="1200" dirty="0">
                          <a:solidFill>
                            <a:prstClr val="black"/>
                          </a:solidFill>
                          <a:latin typeface="Khmer OS Muol Light" panose="02000500000000020004" pitchFamily="2" charset="0"/>
                          <a:cs typeface="Khmer OS Muol Light" panose="02000500000000020004" pitchFamily="2" charset="0"/>
                        </a:rPr>
                        <a:t>និសិត្ស សាត សិលា</a:t>
                      </a:r>
                    </a:p>
                    <a:p>
                      <a:pPr marL="182563" marR="0" lvl="1" indent="-1714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KH" sz="1200" b="0" kern="1200" dirty="0">
                          <a:solidFill>
                            <a:prstClr val="black"/>
                          </a:solidFill>
                          <a:latin typeface="Khmer OS Muol Light" panose="02000500000000020004" pitchFamily="2" charset="0"/>
                          <a:cs typeface="Khmer OS Muol Light" panose="02000500000000020004" pitchFamily="2" charset="0"/>
                        </a:rPr>
                        <a:t>និសិត្ស សាមឿន កិត្យា</a:t>
                      </a:r>
                      <a:endParaRPr lang="km-KH" sz="1200" b="0" kern="1200" dirty="0">
                        <a:solidFill>
                          <a:prstClr val="black"/>
                        </a:solidFill>
                        <a:latin typeface="Khmer OS Muol Light" panose="02000500000000020004" pitchFamily="2" charset="0"/>
                        <a:cs typeface="Khmer OS Muol Light" panose="02000500000000020004" pitchFamily="2" charset="0"/>
                      </a:endParaRPr>
                    </a:p>
                    <a:p>
                      <a:pPr lvl="1" algn="ctr"/>
                      <a:endParaRPr lang="en-GB" sz="1200" dirty="0">
                        <a:solidFill>
                          <a:schemeClr val="tx1"/>
                        </a:solidFill>
                        <a:latin typeface="Khmer OS Muol Light" panose="02000500000000020004" pitchFamily="2" charset="0"/>
                        <a:cs typeface="Khmer OS Muol Light" panose="02000500000000020004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vl="1" algn="ctr"/>
                      <a:endParaRPr lang="en-GB" sz="1200" dirty="0">
                        <a:solidFill>
                          <a:schemeClr val="tx1"/>
                        </a:solidFill>
                        <a:latin typeface="Khmer OS Muol Light" panose="02000500000000020004" pitchFamily="2" charset="0"/>
                        <a:cs typeface="Khmer OS Muol Light" panose="02000500000000020004" pitchFamily="2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8127826"/>
                  </a:ext>
                </a:extLst>
              </a:tr>
              <a:tr h="428447">
                <a:tc>
                  <a:txBody>
                    <a:bodyPr/>
                    <a:lstStyle/>
                    <a:p>
                      <a:pPr lvl="1" algn="ctr"/>
                      <a:endParaRPr lang="en-GB" sz="1200" dirty="0">
                        <a:solidFill>
                          <a:schemeClr val="tx1"/>
                        </a:solidFill>
                        <a:latin typeface="Khmer OS Muol Light" panose="02000500000000020004" pitchFamily="2" charset="0"/>
                        <a:cs typeface="Khmer OS Muol Light" panose="02000500000000020004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vl="1" algn="ctr"/>
                      <a:endParaRPr lang="en-GB" sz="1200" dirty="0">
                        <a:solidFill>
                          <a:schemeClr val="tx1"/>
                        </a:solidFill>
                        <a:latin typeface="Khmer OS Muol Light" panose="02000500000000020004" pitchFamily="2" charset="0"/>
                        <a:cs typeface="Khmer OS Muol Light" panose="02000500000000020004" pitchFamily="2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8042024"/>
                  </a:ext>
                </a:extLst>
              </a:tr>
              <a:tr h="428447">
                <a:tc gridSpan="2">
                  <a:txBody>
                    <a:bodyPr/>
                    <a:lstStyle/>
                    <a:p>
                      <a:pPr lvl="1" algn="ctr"/>
                      <a:endParaRPr lang="en-GB" sz="1200" dirty="0">
                        <a:solidFill>
                          <a:schemeClr val="tx1"/>
                        </a:solidFill>
                        <a:latin typeface="Khmer OS Muol Light" panose="02000500000000020004" pitchFamily="2" charset="0"/>
                        <a:cs typeface="Khmer OS Muol Light" panose="02000500000000020004" pitchFamily="2" charset="0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lvl="1" algn="ctr"/>
                      <a:endParaRPr lang="en-GB" sz="1200" dirty="0">
                        <a:solidFill>
                          <a:schemeClr val="tx1"/>
                        </a:solidFill>
                        <a:latin typeface="Khmer OS Muol Light" panose="02000500000000020004" pitchFamily="2" charset="0"/>
                        <a:cs typeface="Khmer OS Muol Light" panose="02000500000000020004" pitchFamily="2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3571154"/>
                  </a:ext>
                </a:extLst>
              </a:tr>
            </a:tbl>
          </a:graphicData>
        </a:graphic>
      </p:graphicFrame>
      <p:sp>
        <p:nvSpPr>
          <p:cNvPr id="10" name="Rectangle 2">
            <a:extLst>
              <a:ext uri="{FF2B5EF4-FFF2-40B4-BE49-F238E27FC236}">
                <a16:creationId xmlns:a16="http://schemas.microsoft.com/office/drawing/2014/main" id="{D1928715-97DB-A1BD-FAA4-4E99B377D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5396" y="3297537"/>
            <a:ext cx="9421203" cy="284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ctr" defTabSz="342900" hangingPunct="0">
              <a:buClrTx/>
            </a:pPr>
            <a:r>
              <a:rPr lang="km-KH" sz="1400" dirty="0">
                <a:solidFill>
                  <a:prstClr val="black"/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ដឹកនាំដោយ៖</a:t>
            </a:r>
            <a:r>
              <a:rPr lang="en-US" sz="1400" dirty="0">
                <a:solidFill>
                  <a:prstClr val="black"/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 </a:t>
            </a:r>
            <a:r>
              <a:rPr lang="en-KH" sz="1400" dirty="0">
                <a:solidFill>
                  <a:prstClr val="black"/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សាស្រ្តាចារ្យ</a:t>
            </a:r>
            <a:r>
              <a:rPr lang="km-KH" sz="1400" dirty="0">
                <a:solidFill>
                  <a:prstClr val="black"/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សុខ</a:t>
            </a:r>
            <a:r>
              <a:rPr lang="en-US" sz="1400" dirty="0">
                <a:solidFill>
                  <a:prstClr val="black"/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ពង្សសមេត្រី</a:t>
            </a:r>
            <a:endParaRPr lang="en-US" sz="1400" dirty="0">
              <a:solidFill>
                <a:prstClr val="black"/>
              </a:solidFill>
              <a:latin typeface="Khmer OS Muol Light" panose="02000500000000020004" pitchFamily="2" charset="0"/>
              <a:cs typeface="Khmer OS Muol Light" panose="02000500000000020004" pitchFamily="2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FEDDF2BD-9E35-BE8B-D0B9-015BFADB5A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7494" y="6044639"/>
            <a:ext cx="2577005" cy="284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ctr" defTabSz="342900" hangingPunct="0">
              <a:buClrTx/>
            </a:pPr>
            <a:r>
              <a:rPr lang="en-US" sz="1400" dirty="0" err="1">
                <a:solidFill>
                  <a:prstClr val="black"/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ឆ្នាំសិក្សា</a:t>
            </a:r>
            <a:r>
              <a:rPr lang="km-KH" sz="1400" dirty="0">
                <a:solidFill>
                  <a:prstClr val="black"/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៖</a:t>
            </a:r>
            <a:r>
              <a:rPr lang="en-KH" sz="1400" dirty="0">
                <a:solidFill>
                  <a:prstClr val="black"/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 ២០២៥-២០២៦</a:t>
            </a:r>
            <a:endParaRPr lang="en-US" sz="1400" dirty="0">
              <a:solidFill>
                <a:prstClr val="black"/>
              </a:solidFill>
              <a:latin typeface="Khmer OS Muol Light" panose="02000500000000020004" pitchFamily="2" charset="0"/>
              <a:cs typeface="Khmer OS Muol Light" panose="02000500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4076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FFF33-271E-82EF-0496-7B6A58F5C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H" b="1" dirty="0">
                <a:latin typeface="+mn-lt"/>
              </a:rPr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38025-695E-EA1D-AB15-323FD3A06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 algn="just">
              <a:buAutoNum type="romanUcPeriod"/>
            </a:pPr>
            <a:r>
              <a:rPr lang="en-US" sz="2400" dirty="0"/>
              <a:t>Introduction</a:t>
            </a:r>
            <a:endParaRPr lang="en-US" sz="2400" b="0" i="0" dirty="0">
              <a:effectLst/>
            </a:endParaRPr>
          </a:p>
          <a:p>
            <a:pPr marL="514350" indent="-514350" algn="just">
              <a:buFont typeface="Arial" panose="020B0604020202020204" pitchFamily="34" charset="0"/>
              <a:buAutoNum type="romanUcPeriod"/>
            </a:pPr>
            <a:r>
              <a:rPr lang="en-US" sz="2400" dirty="0"/>
              <a:t>Processing Flow</a:t>
            </a:r>
          </a:p>
          <a:p>
            <a:pPr marL="514350" indent="-514350" algn="just">
              <a:buAutoNum type="romanUcPeriod"/>
            </a:pPr>
            <a:r>
              <a:rPr lang="en-US" sz="2400" b="0" i="0" dirty="0">
                <a:effectLst/>
              </a:rPr>
              <a:t>Pros and Cons</a:t>
            </a:r>
            <a:endParaRPr lang="en-US" sz="2400" dirty="0"/>
          </a:p>
          <a:p>
            <a:pPr marL="514350" indent="-514350" algn="just">
              <a:buAutoNum type="romanUcPeriod"/>
            </a:pPr>
            <a:r>
              <a:rPr lang="en-US" sz="2400" dirty="0"/>
              <a:t>Responsibility</a:t>
            </a:r>
          </a:p>
          <a:p>
            <a:pPr marL="514350" indent="-514350" algn="just">
              <a:buAutoNum type="romanUcPeriod"/>
            </a:pPr>
            <a:r>
              <a:rPr lang="en-US" sz="2400" dirty="0"/>
              <a:t>DEMO</a:t>
            </a:r>
          </a:p>
          <a:p>
            <a:pPr marL="514350" indent="-514350" algn="just">
              <a:buAutoNum type="romanUcPeriod"/>
            </a:pPr>
            <a:endParaRPr lang="en-US" sz="2400" b="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49911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6301E-00D6-1275-5221-6EF5E25A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  <a:ln>
            <a:noFill/>
          </a:ln>
        </p:spPr>
        <p:txBody>
          <a:bodyPr/>
          <a:lstStyle/>
          <a:p>
            <a:pPr algn="ctr"/>
            <a:r>
              <a:rPr lang="en-KH" sz="5400" b="1" dirty="0">
                <a:solidFill>
                  <a:schemeClr val="bg1"/>
                </a:solidFill>
                <a:latin typeface="+mn-lt"/>
              </a:rPr>
              <a:t>I. Introduction</a:t>
            </a:r>
            <a:endParaRPr lang="en-KH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59901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6285C-225A-8EDC-D618-C7D208F81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91F50-87C6-C6D3-0040-1DBC4CB14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1. Why Khmer Text Summarize?</a:t>
            </a:r>
            <a:endParaRPr lang="en-KH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ADF00-B812-D7EA-C7F4-FF0708E68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Khmer Text Summarizer</a:t>
            </a:r>
            <a:r>
              <a:rPr lang="en-US" dirty="0"/>
              <a:t> is a system (AI model or algorithm) that automatically reads </a:t>
            </a:r>
            <a:r>
              <a:rPr lang="en-US" b="1" dirty="0"/>
              <a:t>long Khmer-language text</a:t>
            </a:r>
            <a:r>
              <a:rPr lang="en-US" dirty="0"/>
              <a:t> — such as articles, reports, or documents — and generates a </a:t>
            </a:r>
            <a:r>
              <a:rPr lang="en-US" b="1" dirty="0"/>
              <a:t>short, meaningful summary</a:t>
            </a:r>
            <a:r>
              <a:rPr lang="en-US" dirty="0"/>
              <a:t> that keeps the main ideas.</a:t>
            </a:r>
          </a:p>
          <a:p>
            <a:pPr marL="0" indent="0">
              <a:buNone/>
            </a:pPr>
            <a:r>
              <a:rPr lang="en-US" dirty="0"/>
              <a:t>It can be built using machine learning, NLP (Natural Language Processing), or hybrid techniques (rule-based + neural).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499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48266-C2D8-7BAD-DD0F-85C5E9535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96EBF-EFC2-2AA7-F238-2C0C7338A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2. Why it’s importance?</a:t>
            </a:r>
            <a:endParaRPr lang="en-KH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3B641-B670-9DC3-7FEC-9B49CAEBE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1. Information Overload in Khmer</a:t>
            </a:r>
          </a:p>
          <a:p>
            <a:r>
              <a:rPr lang="en-US" dirty="0"/>
              <a:t>People face thousands of Khmer news articles, social media posts, and reports daily.</a:t>
            </a:r>
          </a:p>
          <a:p>
            <a:r>
              <a:rPr lang="en-US" dirty="0"/>
              <a:t>Summarization helps </a:t>
            </a:r>
            <a:r>
              <a:rPr lang="en-US" b="1" dirty="0"/>
              <a:t>save time</a:t>
            </a:r>
            <a:r>
              <a:rPr lang="en-US" dirty="0"/>
              <a:t> by extracting only the </a:t>
            </a:r>
            <a:r>
              <a:rPr lang="en-US" b="1" dirty="0"/>
              <a:t>important points</a:t>
            </a:r>
            <a:r>
              <a:rPr lang="en-US" dirty="0"/>
              <a:t>.</a:t>
            </a:r>
          </a:p>
          <a:p>
            <a:r>
              <a:rPr lang="en-US" dirty="0"/>
              <a:t>Example: turning a 2-page Khmer news article into a 2–3 sentence summary.</a:t>
            </a:r>
          </a:p>
        </p:txBody>
      </p:sp>
    </p:spTree>
    <p:extLst>
      <p:ext uri="{BB962C8B-B14F-4D97-AF65-F5344CB8AC3E}">
        <p14:creationId xmlns:p14="http://schemas.microsoft.com/office/powerpoint/2010/main" val="3117411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C8860-F2E5-9623-56E4-8059234E4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4D9EB-E250-62AA-DA91-BDDD577E8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2. Why it’s importance?</a:t>
            </a:r>
            <a:endParaRPr lang="en-KH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FB65C-E038-5893-7581-4D99488DD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KH" b="1" dirty="0"/>
              <a:t>2. </a:t>
            </a:r>
            <a:r>
              <a:rPr lang="en-US" b="1" dirty="0"/>
              <a:t>Educational Use</a:t>
            </a:r>
          </a:p>
          <a:p>
            <a:r>
              <a:rPr lang="en-US" dirty="0"/>
              <a:t>Students and teachers can use it to </a:t>
            </a:r>
            <a:r>
              <a:rPr lang="en-US" b="1" dirty="0"/>
              <a:t>quickly understand lessons, research papers, or stories</a:t>
            </a:r>
            <a:r>
              <a:rPr lang="en-US" dirty="0"/>
              <a:t> in Khmer.</a:t>
            </a:r>
          </a:p>
          <a:p>
            <a:r>
              <a:rPr lang="en-US" dirty="0"/>
              <a:t>Helps summarize long PDFs or book chapters into short notes.</a:t>
            </a:r>
          </a:p>
          <a:p>
            <a:r>
              <a:rPr lang="en-US" dirty="0"/>
              <a:t>Promotes </a:t>
            </a:r>
            <a:r>
              <a:rPr lang="en-US" b="1" dirty="0"/>
              <a:t>digital literacy in Khmer</a:t>
            </a:r>
            <a:r>
              <a:rPr lang="en-US" dirty="0"/>
              <a:t>, not just English.</a:t>
            </a:r>
          </a:p>
        </p:txBody>
      </p:sp>
    </p:spTree>
    <p:extLst>
      <p:ext uri="{BB962C8B-B14F-4D97-AF65-F5344CB8AC3E}">
        <p14:creationId xmlns:p14="http://schemas.microsoft.com/office/powerpoint/2010/main" val="3315205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23C2C-788E-C08D-1210-400A57F8E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0FBF1-664F-D45A-DEE7-9B96887AE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2. Future plan</a:t>
            </a:r>
            <a:endParaRPr lang="en-KH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656D6-7397-735D-0B63-60DD688C1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Practical Applications</a:t>
            </a:r>
          </a:p>
          <a:p>
            <a:r>
              <a:rPr lang="en-US" b="1" dirty="0"/>
              <a:t>News apps:</a:t>
            </a:r>
            <a:r>
              <a:rPr lang="en-US" dirty="0"/>
              <a:t> show “summary view” of articles.</a:t>
            </a:r>
          </a:p>
          <a:p>
            <a:r>
              <a:rPr lang="en-US" b="1" dirty="0"/>
              <a:t>Government/NGO reports:</a:t>
            </a:r>
            <a:r>
              <a:rPr lang="en-US" dirty="0"/>
              <a:t> generate summaries for quick public reading.</a:t>
            </a:r>
          </a:p>
          <a:p>
            <a:r>
              <a:rPr lang="en-US" b="1" dirty="0"/>
              <a:t>Social media analysis:</a:t>
            </a:r>
            <a:r>
              <a:rPr lang="en-US" dirty="0"/>
              <a:t> summarize long Facebook posts or comments.</a:t>
            </a:r>
          </a:p>
          <a:p>
            <a:r>
              <a:rPr lang="en-US" b="1" dirty="0"/>
              <a:t>Voice assistants:</a:t>
            </a:r>
            <a:r>
              <a:rPr lang="en-US" dirty="0"/>
              <a:t> read short summaries in Khmer for accessibility.</a:t>
            </a:r>
          </a:p>
        </p:txBody>
      </p:sp>
    </p:spTree>
    <p:extLst>
      <p:ext uri="{BB962C8B-B14F-4D97-AF65-F5344CB8AC3E}">
        <p14:creationId xmlns:p14="http://schemas.microsoft.com/office/powerpoint/2010/main" val="1470446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9866D6-12D7-C4E9-2957-BE82EE93B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83145-8B7A-BCB0-A5D4-52E0BAC2D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KH" sz="5400" b="1" dirty="0">
                <a:solidFill>
                  <a:schemeClr val="bg1"/>
                </a:solidFill>
                <a:latin typeface="+mn-lt"/>
              </a:rPr>
              <a:t>II. Processing Flow</a:t>
            </a:r>
            <a:endParaRPr lang="en-KH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1604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9A911-BA41-2481-060C-42E75CE48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A53C5-BD9E-48AD-4196-46AC23B31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1. Processing flow</a:t>
            </a:r>
            <a:endParaRPr lang="en-KH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3030C2-606A-D62E-B0CE-191972E7B067}"/>
              </a:ext>
            </a:extLst>
          </p:cNvPr>
          <p:cNvSpPr/>
          <p:nvPr/>
        </p:nvSpPr>
        <p:spPr>
          <a:xfrm>
            <a:off x="2051436" y="1690688"/>
            <a:ext cx="2043485" cy="9382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H" dirty="0"/>
              <a:t>Mobile App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D7224A-8D19-3FD0-0A6B-164369A54B4E}"/>
              </a:ext>
            </a:extLst>
          </p:cNvPr>
          <p:cNvSpPr/>
          <p:nvPr/>
        </p:nvSpPr>
        <p:spPr>
          <a:xfrm>
            <a:off x="5074257" y="1690688"/>
            <a:ext cx="2043485" cy="9382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H" dirty="0"/>
              <a:t>Java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4880CB-F23A-2913-3EE9-79A1EC6368B9}"/>
              </a:ext>
            </a:extLst>
          </p:cNvPr>
          <p:cNvSpPr/>
          <p:nvPr/>
        </p:nvSpPr>
        <p:spPr>
          <a:xfrm>
            <a:off x="8097079" y="1690688"/>
            <a:ext cx="2043485" cy="9382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H" dirty="0"/>
              <a:t>Gemini AI</a:t>
            </a:r>
          </a:p>
          <a:p>
            <a:pPr algn="ctr"/>
            <a:r>
              <a:rPr lang="en-KH" dirty="0"/>
              <a:t>(Flash 2.5)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9E147E2-CD93-DB98-EE6C-498D3A07A9B6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4094921" y="2159815"/>
            <a:ext cx="9793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B4CB07B-0A50-1182-0E38-DFC44B9B4133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7117742" y="2159815"/>
            <a:ext cx="9793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2E3F3A5D-E160-E7F8-65EF-C718645D8B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2303373"/>
              </p:ext>
            </p:extLst>
          </p:nvPr>
        </p:nvGraphicFramePr>
        <p:xfrm>
          <a:off x="303475" y="3098068"/>
          <a:ext cx="11585049" cy="339479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411228">
                  <a:extLst>
                    <a:ext uri="{9D8B030D-6E8A-4147-A177-3AD203B41FA5}">
                      <a16:colId xmlns:a16="http://schemas.microsoft.com/office/drawing/2014/main" val="2556833992"/>
                    </a:ext>
                  </a:extLst>
                </a:gridCol>
                <a:gridCol w="1439069">
                  <a:extLst>
                    <a:ext uri="{9D8B030D-6E8A-4147-A177-3AD203B41FA5}">
                      <a16:colId xmlns:a16="http://schemas.microsoft.com/office/drawing/2014/main" val="2448909210"/>
                    </a:ext>
                  </a:extLst>
                </a:gridCol>
                <a:gridCol w="3812733">
                  <a:extLst>
                    <a:ext uri="{9D8B030D-6E8A-4147-A177-3AD203B41FA5}">
                      <a16:colId xmlns:a16="http://schemas.microsoft.com/office/drawing/2014/main" val="4168631787"/>
                    </a:ext>
                  </a:extLst>
                </a:gridCol>
                <a:gridCol w="1465820">
                  <a:extLst>
                    <a:ext uri="{9D8B030D-6E8A-4147-A177-3AD203B41FA5}">
                      <a16:colId xmlns:a16="http://schemas.microsoft.com/office/drawing/2014/main" val="3581238766"/>
                    </a:ext>
                  </a:extLst>
                </a:gridCol>
                <a:gridCol w="1850298">
                  <a:extLst>
                    <a:ext uri="{9D8B030D-6E8A-4147-A177-3AD203B41FA5}">
                      <a16:colId xmlns:a16="http://schemas.microsoft.com/office/drawing/2014/main" val="3835333483"/>
                    </a:ext>
                  </a:extLst>
                </a:gridCol>
                <a:gridCol w="2605901">
                  <a:extLst>
                    <a:ext uri="{9D8B030D-6E8A-4147-A177-3AD203B41FA5}">
                      <a16:colId xmlns:a16="http://schemas.microsoft.com/office/drawing/2014/main" val="4043375406"/>
                    </a:ext>
                  </a:extLst>
                </a:gridCol>
              </a:tblGrid>
              <a:tr h="532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Step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76" marR="7276" marT="7276" marB="0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Component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76" marR="7276" marT="7276" marB="0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Action / Process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76" marR="7276" marT="7276" marB="0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Input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76" marR="7276" marT="7276" marB="0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Output / Response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76" marR="7276" marT="7276" marB="0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Purpose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76" marR="7276" marT="7276" marB="0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8375263"/>
                  </a:ext>
                </a:extLst>
              </a:tr>
              <a:tr h="532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KH" sz="1100" u="none" strike="noStrike" dirty="0">
                          <a:effectLst/>
                        </a:rPr>
                        <a:t>1</a:t>
                      </a:r>
                      <a:endParaRPr lang="en-KH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76" marR="7276" marT="7276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Mobile App (Flutter)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76" marR="7276" marT="7276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User inputs or scans Khmer text (from image or typed input).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76" marR="7276" marT="7276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Khmer text or image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76" marR="7276" marT="7276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JSON request sent to Java API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76" marR="7276" marT="7276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Collects and sends text data for processing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76" marR="7276" marT="7276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5707856"/>
                  </a:ext>
                </a:extLst>
              </a:tr>
              <a:tr h="6315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KH" sz="1100" u="none" strike="noStrike" dirty="0">
                          <a:effectLst/>
                        </a:rPr>
                        <a:t>2</a:t>
                      </a:r>
                      <a:endParaRPr lang="en-KH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76" marR="7276" marT="7276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Java Backend (Spring Boot)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76" marR="7276" marT="7276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Receives text from mobile, validates and prepares request to Gemini.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76" marR="7276" marT="7276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JSON text from mobile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76" marR="7276" marT="7276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API request to Gemini (Flash 2.5)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76" marR="7276" marT="7276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Acts as middleware between app and AI model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76" marR="7276" marT="7276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5916358"/>
                  </a:ext>
                </a:extLst>
              </a:tr>
              <a:tr h="6315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KH" sz="1100" u="none" strike="noStrike" dirty="0">
                          <a:effectLst/>
                        </a:rPr>
                        <a:t>3</a:t>
                      </a:r>
                      <a:endParaRPr lang="en-KH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76" marR="7276" marT="7276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Gemini (Flash 2.5 API)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76" marR="7276" marT="7276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Performs Khmer text summarization using AI language model.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76" marR="7276" marT="7276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Request payload with text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76" marR="7276" marT="7276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Summary result in JSON format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76" marR="7276" marT="7276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Provides summarized text output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76" marR="7276" marT="7276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4434289"/>
                  </a:ext>
                </a:extLst>
              </a:tr>
              <a:tr h="532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KH" sz="1100" u="none" strike="noStrike" dirty="0">
                          <a:effectLst/>
                        </a:rPr>
                        <a:t>4</a:t>
                      </a:r>
                      <a:endParaRPr lang="en-KH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76" marR="7276" marT="7276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Java Backend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76" marR="7276" marT="7276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Receives summarized result, formats and returns to mobile.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76" marR="7276" marT="7276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Summary from Gemini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76" marR="7276" marT="7276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JSON response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76" marR="7276" marT="7276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Ensures proper data structure for frontend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76" marR="7276" marT="7276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2109356"/>
                  </a:ext>
                </a:extLst>
              </a:tr>
              <a:tr h="532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KH" sz="1100" u="none" strike="noStrike" dirty="0">
                          <a:effectLst/>
                        </a:rPr>
                        <a:t>5</a:t>
                      </a:r>
                      <a:endParaRPr lang="en-KH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76" marR="7276" marT="7276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Mobile App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76" marR="7276" marT="7276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Displays summarized text to the user.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76" marR="7276" marT="7276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JSON summary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76" marR="7276" marT="7276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Summarized text shown in UI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76" marR="7276" marT="7276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Delivers final summarized content to user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76" marR="7276" marT="7276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103675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0371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DA8A0-6F0E-D5B7-534C-6C915C83F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9B4A8-3E32-F0CA-BC9D-58DAF4BF0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2. Integration Flow</a:t>
            </a:r>
            <a:endParaRPr lang="en-KH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A3C26D8-59BA-ADEB-FCDC-E00120A036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7487786"/>
              </p:ext>
            </p:extLst>
          </p:nvPr>
        </p:nvGraphicFramePr>
        <p:xfrm>
          <a:off x="838200" y="1584639"/>
          <a:ext cx="10515599" cy="4908237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2033450">
                  <a:extLst>
                    <a:ext uri="{9D8B030D-6E8A-4147-A177-3AD203B41FA5}">
                      <a16:colId xmlns:a16="http://schemas.microsoft.com/office/drawing/2014/main" val="3598892298"/>
                    </a:ext>
                  </a:extLst>
                </a:gridCol>
                <a:gridCol w="2230237">
                  <a:extLst>
                    <a:ext uri="{9D8B030D-6E8A-4147-A177-3AD203B41FA5}">
                      <a16:colId xmlns:a16="http://schemas.microsoft.com/office/drawing/2014/main" val="1564041108"/>
                    </a:ext>
                  </a:extLst>
                </a:gridCol>
                <a:gridCol w="6251912">
                  <a:extLst>
                    <a:ext uri="{9D8B030D-6E8A-4147-A177-3AD203B41FA5}">
                      <a16:colId xmlns:a16="http://schemas.microsoft.com/office/drawing/2014/main" val="3528692427"/>
                    </a:ext>
                  </a:extLst>
                </a:gridCol>
              </a:tblGrid>
              <a:tr h="7592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Component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04" marR="6104" marT="6104" marB="0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Role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04" marR="6104" marT="6104" marB="0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Integration Details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04" marR="6104" marT="6104" marB="0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4058493"/>
                  </a:ext>
                </a:extLst>
              </a:tr>
              <a:tr h="8768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1. Flutter App (Frontend)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04" marR="6104" marT="6104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User Interface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04" marR="6104" marT="6104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Users input Khmer text manually or capture it from an image using OCR (e.g., google_mlkit_text_recognition). The app sends this text via HTTP POST request to your Java backend API.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04" marR="6104" marT="6104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1897710"/>
                  </a:ext>
                </a:extLst>
              </a:tr>
              <a:tr h="8768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2. Java Backend (API Server)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04" marR="6104" marT="6104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Bridge between App and AI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04" marR="6104" marT="6104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The Java backend receives text input at /api/summarize. It formats the text request and sends it to Gemini Flash 2.5 API using an API key. It also handles request validation and error responses.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04" marR="6104" marT="6104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4708904"/>
                  </a:ext>
                </a:extLst>
              </a:tr>
              <a:tr h="8768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3. Gemini Flash 2.5 API (AI Engine)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04" marR="6104" marT="6104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Summarization Model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04" marR="6104" marT="6104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Gemini processes the Khmer text and returns a short, meaningful summary. The model is capable of handling Khmer language structure and semantics.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04" marR="6104" marT="6104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9366129"/>
                  </a:ext>
                </a:extLst>
              </a:tr>
              <a:tr h="7592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4. Java → Flutter Response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04" marR="6104" marT="6104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Return Result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04" marR="6104" marT="6104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The Java backend receives Gemini’s summarized result, converts it into a JSON response, and sends it back to the Flutter app.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04" marR="6104" marT="6104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2897132"/>
                  </a:ext>
                </a:extLst>
              </a:tr>
              <a:tr h="7592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5. Flutter Display Layer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04" marR="6104" marT="6104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User Output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04" marR="6104" marT="6104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The app displays the summarized Khmer text in a readable format with options like copy, save, or share.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04" marR="6104" marT="6104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090523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59368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26CE3-0391-8F08-2170-2CABC999E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8B0EE-D1CC-5D35-A3FD-3034F98A2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3. AI Prompt</a:t>
            </a:r>
            <a:endParaRPr lang="en-KH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1CAF95-61FF-20BD-3D23-6F415EB7AEB3}"/>
              </a:ext>
            </a:extLst>
          </p:cNvPr>
          <p:cNvSpPr txBox="1"/>
          <p:nvPr/>
        </p:nvSpPr>
        <p:spPr>
          <a:xfrm>
            <a:off x="838200" y="1690688"/>
            <a:ext cx="9410700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600" b="0" dirty="0">
                <a:effectLst/>
                <a:latin typeface="Kh Battambang" panose="02000500000000020004" pitchFamily="2" charset="77"/>
                <a:cs typeface="Kh Battambang" panose="02000500000000020004" pitchFamily="2" charset="77"/>
              </a:rPr>
              <a:t>String prompt = "</a:t>
            </a:r>
            <a:r>
              <a:rPr lang="km-KH" sz="1600" b="0" dirty="0">
                <a:effectLst/>
                <a:latin typeface="Kh Battambang" panose="02000500000000020004" pitchFamily="2" charset="77"/>
                <a:cs typeface="Kh Battambang" panose="02000500000000020004" pitchFamily="2" charset="77"/>
              </a:rPr>
              <a:t>ភារកិច្ច: សូមបង្កើតសង្ខេបអត្ថបទខាងក្រោមជាភាសាខ្មែរ។\</a:t>
            </a:r>
            <a:r>
              <a:rPr lang="en-US" sz="1600" b="0" dirty="0">
                <a:effectLst/>
                <a:latin typeface="Kh Battambang" panose="02000500000000020004" pitchFamily="2" charset="77"/>
                <a:cs typeface="Kh Battambang" panose="02000500000000020004" pitchFamily="2" charset="77"/>
              </a:rPr>
              <a:t>n" +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effectLst/>
                <a:latin typeface="Kh Battambang" panose="02000500000000020004" pitchFamily="2" charset="77"/>
                <a:cs typeface="Kh Battambang" panose="02000500000000020004" pitchFamily="2" charset="77"/>
              </a:rPr>
              <a:t>"</a:t>
            </a:r>
            <a:r>
              <a:rPr lang="km-KH" sz="1600" b="0" dirty="0">
                <a:effectLst/>
                <a:latin typeface="Kh Battambang" panose="02000500000000020004" pitchFamily="2" charset="77"/>
                <a:cs typeface="Kh Battambang" panose="02000500000000020004" pitchFamily="2" charset="77"/>
              </a:rPr>
              <a:t>លក្ខខណ្ឌ:\</a:t>
            </a:r>
            <a:r>
              <a:rPr lang="en-US" sz="1600" b="0" dirty="0">
                <a:effectLst/>
                <a:latin typeface="Kh Battambang" panose="02000500000000020004" pitchFamily="2" charset="77"/>
                <a:cs typeface="Kh Battambang" panose="02000500000000020004" pitchFamily="2" charset="77"/>
              </a:rPr>
              <a:t>n" +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effectLst/>
                <a:latin typeface="Kh Battambang" panose="02000500000000020004" pitchFamily="2" charset="77"/>
                <a:cs typeface="Kh Battambang" panose="02000500000000020004" pitchFamily="2" charset="77"/>
              </a:rPr>
              <a:t>"1. </a:t>
            </a:r>
            <a:r>
              <a:rPr lang="km-KH" sz="1600" b="0" dirty="0">
                <a:effectLst/>
                <a:latin typeface="Kh Battambang" panose="02000500000000020004" pitchFamily="2" charset="77"/>
                <a:cs typeface="Kh Battambang" panose="02000500000000020004" pitchFamily="2" charset="77"/>
              </a:rPr>
              <a:t>សង្ខេបអត្ថបទក្នុងរយៈ 3-5 ឃ្លា ឬចំណុចសំខាន់ៗ (</a:t>
            </a:r>
            <a:r>
              <a:rPr lang="en-US" sz="1600" b="0" dirty="0">
                <a:effectLst/>
                <a:latin typeface="Kh Battambang" panose="02000500000000020004" pitchFamily="2" charset="77"/>
                <a:cs typeface="Kh Battambang" panose="02000500000000020004" pitchFamily="2" charset="77"/>
              </a:rPr>
              <a:t>bullet points) </a:t>
            </a:r>
            <a:r>
              <a:rPr lang="km-KH" sz="1600" b="0" dirty="0">
                <a:effectLst/>
                <a:latin typeface="Kh Battambang" panose="02000500000000020004" pitchFamily="2" charset="77"/>
                <a:cs typeface="Kh Battambang" panose="02000500000000020004" pitchFamily="2" charset="77"/>
              </a:rPr>
              <a:t>បើអាច.\</a:t>
            </a:r>
            <a:r>
              <a:rPr lang="en-US" sz="1600" b="0" dirty="0">
                <a:effectLst/>
                <a:latin typeface="Kh Battambang" panose="02000500000000020004" pitchFamily="2" charset="77"/>
                <a:cs typeface="Kh Battambang" panose="02000500000000020004" pitchFamily="2" charset="77"/>
              </a:rPr>
              <a:t>n" +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effectLst/>
                <a:latin typeface="Kh Battambang" panose="02000500000000020004" pitchFamily="2" charset="77"/>
                <a:cs typeface="Kh Battambang" panose="02000500000000020004" pitchFamily="2" charset="77"/>
              </a:rPr>
              <a:t>"2. </a:t>
            </a:r>
            <a:r>
              <a:rPr lang="km-KH" sz="1600" b="0" dirty="0">
                <a:effectLst/>
                <a:latin typeface="Kh Battambang" panose="02000500000000020004" pitchFamily="2" charset="77"/>
                <a:cs typeface="Kh Battambang" panose="02000500000000020004" pitchFamily="2" charset="77"/>
              </a:rPr>
              <a:t>រក្សាអត្ថន័យសំខាន់ៗ និងឈ្មោះ, ថ្ងៃខែ, និងលេខសំខាន់ៗទាំងអស់.\</a:t>
            </a:r>
            <a:r>
              <a:rPr lang="en-US" sz="1600" b="0" dirty="0">
                <a:effectLst/>
                <a:latin typeface="Kh Battambang" panose="02000500000000020004" pitchFamily="2" charset="77"/>
                <a:cs typeface="Kh Battambang" panose="02000500000000020004" pitchFamily="2" charset="77"/>
              </a:rPr>
              <a:t>n" +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effectLst/>
                <a:latin typeface="Kh Battambang" panose="02000500000000020004" pitchFamily="2" charset="77"/>
                <a:cs typeface="Kh Battambang" panose="02000500000000020004" pitchFamily="2" charset="77"/>
              </a:rPr>
              <a:t>"3. </a:t>
            </a:r>
            <a:r>
              <a:rPr lang="km-KH" sz="1600" b="0" dirty="0">
                <a:effectLst/>
                <a:latin typeface="Kh Battambang" panose="02000500000000020004" pitchFamily="2" charset="77"/>
                <a:cs typeface="Kh Battambang" panose="02000500000000020004" pitchFamily="2" charset="77"/>
              </a:rPr>
              <a:t>ប្រើភាសាផ្លូវការនិងរលូន (</a:t>
            </a:r>
            <a:r>
              <a:rPr lang="en-US" sz="1600" b="0" dirty="0">
                <a:effectLst/>
                <a:latin typeface="Kh Battambang" panose="02000500000000020004" pitchFamily="2" charset="77"/>
                <a:cs typeface="Kh Battambang" panose="02000500000000020004" pitchFamily="2" charset="77"/>
              </a:rPr>
              <a:t>formal &amp; fluent).\n" +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effectLst/>
                <a:latin typeface="Kh Battambang" panose="02000500000000020004" pitchFamily="2" charset="77"/>
                <a:cs typeface="Kh Battambang" panose="02000500000000020004" pitchFamily="2" charset="77"/>
              </a:rPr>
              <a:t>"4. </a:t>
            </a:r>
            <a:r>
              <a:rPr lang="km-KH" sz="1600" b="0" dirty="0">
                <a:effectLst/>
                <a:latin typeface="Kh Battambang" panose="02000500000000020004" pitchFamily="2" charset="77"/>
                <a:cs typeface="Kh Battambang" panose="02000500000000020004" pitchFamily="2" charset="77"/>
              </a:rPr>
              <a:t>កុំបន្ថែមព័ត៌មានថ្មីៗ ដែលមិនមាននៅក្នុងអត្ថបទដើម.\</a:t>
            </a:r>
            <a:r>
              <a:rPr lang="en-US" sz="1600" b="0" dirty="0">
                <a:effectLst/>
                <a:latin typeface="Kh Battambang" panose="02000500000000020004" pitchFamily="2" charset="77"/>
                <a:cs typeface="Kh Battambang" panose="02000500000000020004" pitchFamily="2" charset="77"/>
              </a:rPr>
              <a:t>n" +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effectLst/>
                <a:latin typeface="Kh Battambang" panose="02000500000000020004" pitchFamily="2" charset="77"/>
                <a:cs typeface="Kh Battambang" panose="02000500000000020004" pitchFamily="2" charset="77"/>
              </a:rPr>
              <a:t>"----------\n" +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effectLst/>
                <a:latin typeface="Kh Battambang" panose="02000500000000020004" pitchFamily="2" charset="77"/>
                <a:cs typeface="Kh Battambang" panose="02000500000000020004" pitchFamily="2" charset="77"/>
              </a:rPr>
              <a:t>"</a:t>
            </a:r>
            <a:r>
              <a:rPr lang="km-KH" sz="1600" b="0" dirty="0">
                <a:effectLst/>
                <a:latin typeface="Kh Battambang" panose="02000500000000020004" pitchFamily="2" charset="77"/>
                <a:cs typeface="Kh Battambang" panose="02000500000000020004" pitchFamily="2" charset="77"/>
              </a:rPr>
              <a:t>អត្ថបទដើម:\</a:t>
            </a:r>
            <a:r>
              <a:rPr lang="en-US" sz="1600" b="0" dirty="0">
                <a:effectLst/>
                <a:latin typeface="Kh Battambang" panose="02000500000000020004" pitchFamily="2" charset="77"/>
                <a:cs typeface="Kh Battambang" panose="02000500000000020004" pitchFamily="2" charset="77"/>
              </a:rPr>
              <a:t>n" +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effectLst/>
                <a:latin typeface="Kh Battambang" panose="02000500000000020004" pitchFamily="2" charset="77"/>
                <a:cs typeface="Kh Battambang" panose="02000500000000020004" pitchFamily="2" charset="77"/>
              </a:rPr>
              <a:t>chunk;</a:t>
            </a:r>
          </a:p>
        </p:txBody>
      </p:sp>
    </p:spTree>
    <p:extLst>
      <p:ext uri="{BB962C8B-B14F-4D97-AF65-F5344CB8AC3E}">
        <p14:creationId xmlns:p14="http://schemas.microsoft.com/office/powerpoint/2010/main" val="2860343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F572B-E3AA-E541-E3F2-BFD5F1DA0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D63EA-45D0-C4F7-5AE8-5171D5103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3. AI Prompt (cont.)</a:t>
            </a:r>
            <a:endParaRPr lang="en-KH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27FF79-08FF-ADF1-F438-24D7EAEE8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690688"/>
            <a:ext cx="7772400" cy="3067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0426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1AB0A-BB4F-7D69-F4B2-C6921A06E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10406-89D8-511F-EEE8-E1FE36213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3. AI Prompt (cont.)</a:t>
            </a:r>
            <a:endParaRPr lang="en-KH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928B16-05AE-BB01-EB3D-2944A311B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531" y="1690688"/>
            <a:ext cx="7462684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5519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8BEFB-2057-AD88-E8A5-5AB648DC2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AD748-A0C7-956F-5760-C7BF826E9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3. AI Prompt (cont.)</a:t>
            </a:r>
            <a:endParaRPr lang="en-KH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9AA9B2-4B92-2039-F9B3-14D9A8B10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606" y="1690688"/>
            <a:ext cx="7582787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4573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A45288-7816-3345-0768-5A3B114BA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4CA6F-DD17-14D4-B2F5-C8C780F8F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KH" sz="5400" b="1" dirty="0">
                <a:solidFill>
                  <a:schemeClr val="bg1"/>
                </a:solidFill>
                <a:latin typeface="+mn-lt"/>
              </a:rPr>
              <a:t>II. Pros and Cons</a:t>
            </a:r>
            <a:endParaRPr lang="en-KH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083258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ABBAD-C286-C154-296D-8F19C6E15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51F83-4B67-2DF5-4831-2AECAB4F6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Pros and Cons</a:t>
            </a:r>
            <a:endParaRPr lang="en-KH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B99C748-2081-3DA3-2717-F08F1D256A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3188313"/>
              </p:ext>
            </p:extLst>
          </p:nvPr>
        </p:nvGraphicFramePr>
        <p:xfrm>
          <a:off x="838200" y="1690687"/>
          <a:ext cx="10515600" cy="4802192"/>
        </p:xfrm>
        <a:graphic>
          <a:graphicData uri="http://schemas.openxmlformats.org/drawingml/2006/table">
            <a:tbl>
              <a:tblPr>
                <a:tableStyleId>{6E25E649-3F16-4E02-A733-19D2CDBF48F0}</a:tableStyleId>
              </a:tblPr>
              <a:tblGrid>
                <a:gridCol w="2720454">
                  <a:extLst>
                    <a:ext uri="{9D8B030D-6E8A-4147-A177-3AD203B41FA5}">
                      <a16:colId xmlns:a16="http://schemas.microsoft.com/office/drawing/2014/main" val="3441907688"/>
                    </a:ext>
                  </a:extLst>
                </a:gridCol>
                <a:gridCol w="4211472">
                  <a:extLst>
                    <a:ext uri="{9D8B030D-6E8A-4147-A177-3AD203B41FA5}">
                      <a16:colId xmlns:a16="http://schemas.microsoft.com/office/drawing/2014/main" val="86493952"/>
                    </a:ext>
                  </a:extLst>
                </a:gridCol>
                <a:gridCol w="3583674">
                  <a:extLst>
                    <a:ext uri="{9D8B030D-6E8A-4147-A177-3AD203B41FA5}">
                      <a16:colId xmlns:a16="http://schemas.microsoft.com/office/drawing/2014/main" val="1040725418"/>
                    </a:ext>
                  </a:extLst>
                </a:gridCol>
              </a:tblGrid>
              <a:tr h="30013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Aspect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Pros (Advantages)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Cons (Limitations)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75499432"/>
                  </a:ext>
                </a:extLst>
              </a:tr>
              <a:tr h="300137"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Architecture (Mobile → Java → Gemini)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• Clear separation of frontend, backend, and AI logic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• More components = higher latency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74649299"/>
                  </a:ext>
                </a:extLst>
              </a:tr>
              <a:tr h="300137">
                <a:tc vMerge="1">
                  <a:txBody>
                    <a:bodyPr/>
                    <a:lstStyle/>
                    <a:p>
                      <a:endParaRPr lang="en-K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• Easier maintenance and scaling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• Network dependency between layers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68636324"/>
                  </a:ext>
                </a:extLst>
              </a:tr>
              <a:tr h="300137">
                <a:tc vMerge="1">
                  <a:txBody>
                    <a:bodyPr/>
                    <a:lstStyle/>
                    <a:p>
                      <a:endParaRPr lang="en-K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• Java backend can handle validation, security, and caching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KH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9184690"/>
                  </a:ext>
                </a:extLst>
              </a:tr>
              <a:tr h="300137"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Mobile (Flutter)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• Cross-platform (Android/iOS)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• Needs stable API connection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72544586"/>
                  </a:ext>
                </a:extLst>
              </a:tr>
              <a:tr h="300137">
                <a:tc vMerge="1">
                  <a:txBody>
                    <a:bodyPr/>
                    <a:lstStyle/>
                    <a:p>
                      <a:endParaRPr lang="en-K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• Easy to design modern UI/UX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• Limited local AI processing power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30876596"/>
                  </a:ext>
                </a:extLst>
              </a:tr>
              <a:tr h="300137">
                <a:tc vMerge="1">
                  <a:txBody>
                    <a:bodyPr/>
                    <a:lstStyle/>
                    <a:p>
                      <a:endParaRPr lang="en-K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• Can integrate camera or OCR for text scanning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KH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5829211"/>
                  </a:ext>
                </a:extLst>
              </a:tr>
              <a:tr h="300137"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Java Backend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• Strong type-safety and structure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• Adds complexity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74675617"/>
                  </a:ext>
                </a:extLst>
              </a:tr>
              <a:tr h="300137">
                <a:tc vMerge="1">
                  <a:txBody>
                    <a:bodyPr/>
                    <a:lstStyle/>
                    <a:p>
                      <a:endParaRPr lang="en-K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• Supports authentication (JWT, Spring Security)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• Requires hosting/server maintenance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802207"/>
                  </a:ext>
                </a:extLst>
              </a:tr>
              <a:tr h="300137">
                <a:tc vMerge="1">
                  <a:txBody>
                    <a:bodyPr/>
                    <a:lstStyle/>
                    <a:p>
                      <a:endParaRPr lang="en-K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• Can integrate with databases for saving summaries or history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KH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9005652"/>
                  </a:ext>
                </a:extLst>
              </a:tr>
              <a:tr h="300137"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Gemini (Flash 2.5)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• High-quality Khmer text summarization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• Dependent on internet/API quota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240693776"/>
                  </a:ext>
                </a:extLst>
              </a:tr>
              <a:tr h="300137">
                <a:tc vMerge="1">
                  <a:txBody>
                    <a:bodyPr/>
                    <a:lstStyle/>
                    <a:p>
                      <a:endParaRPr lang="en-K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• Fast and context-aware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• May cost usage fees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07097857"/>
                  </a:ext>
                </a:extLst>
              </a:tr>
              <a:tr h="300137">
                <a:tc vMerge="1">
                  <a:txBody>
                    <a:bodyPr/>
                    <a:lstStyle/>
                    <a:p>
                      <a:endParaRPr lang="en-K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• Can handle both short and long text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• Limited offline capability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9629451"/>
                  </a:ext>
                </a:extLst>
              </a:tr>
              <a:tr h="300137"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Overall System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• Modular and extensible design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• Data privacy concerns (sending text to external API)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829996707"/>
                  </a:ext>
                </a:extLst>
              </a:tr>
              <a:tr h="300137">
                <a:tc vMerge="1">
                  <a:txBody>
                    <a:bodyPr/>
                    <a:lstStyle/>
                    <a:p>
                      <a:endParaRPr lang="en-K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• Good user experience (mobile friendly)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• Latency if network is slow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34418146"/>
                  </a:ext>
                </a:extLst>
              </a:tr>
              <a:tr h="300137">
                <a:tc vMerge="1">
                  <a:txBody>
                    <a:bodyPr/>
                    <a:lstStyle/>
                    <a:p>
                      <a:endParaRPr lang="en-K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• Can easily switch or upgrade AI models later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• Complex error handling across 3 layers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04050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30014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E1CF5E-9F0D-CD9D-BA3E-FB0A3E377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2E0A3-55B0-D55A-D2D7-DA165676F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KH" sz="5400" b="1" dirty="0">
                <a:solidFill>
                  <a:schemeClr val="bg1"/>
                </a:solidFill>
                <a:latin typeface="+mn-lt"/>
              </a:rPr>
              <a:t>III. Responsibility</a:t>
            </a:r>
            <a:endParaRPr lang="en-KH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787102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2AF39-6BD9-2C46-DF24-835C65F8E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3380D-4DE0-4D70-7FD1-A0D71058E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H" b="1" dirty="0"/>
              <a:t>Responsibility</a:t>
            </a:r>
            <a:endParaRPr lang="en-KH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E53E2D7-FFB5-4161-27FC-9FFE80E2FF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314629"/>
              </p:ext>
            </p:extLst>
          </p:nvPr>
        </p:nvGraphicFramePr>
        <p:xfrm>
          <a:off x="838200" y="1600199"/>
          <a:ext cx="10515599" cy="4892670"/>
        </p:xfrm>
        <a:graphic>
          <a:graphicData uri="http://schemas.openxmlformats.org/drawingml/2006/table">
            <a:tbl>
              <a:tblPr>
                <a:tableStyleId>{74C1A8A3-306A-4EB7-A6B1-4F7E0EB9C5D6}</a:tableStyleId>
              </a:tblPr>
              <a:tblGrid>
                <a:gridCol w="442179">
                  <a:extLst>
                    <a:ext uri="{9D8B030D-6E8A-4147-A177-3AD203B41FA5}">
                      <a16:colId xmlns:a16="http://schemas.microsoft.com/office/drawing/2014/main" val="2708048563"/>
                    </a:ext>
                  </a:extLst>
                </a:gridCol>
                <a:gridCol w="1699630">
                  <a:extLst>
                    <a:ext uri="{9D8B030D-6E8A-4147-A177-3AD203B41FA5}">
                      <a16:colId xmlns:a16="http://schemas.microsoft.com/office/drawing/2014/main" val="760512814"/>
                    </a:ext>
                  </a:extLst>
                </a:gridCol>
                <a:gridCol w="2860354">
                  <a:extLst>
                    <a:ext uri="{9D8B030D-6E8A-4147-A177-3AD203B41FA5}">
                      <a16:colId xmlns:a16="http://schemas.microsoft.com/office/drawing/2014/main" val="4129548497"/>
                    </a:ext>
                  </a:extLst>
                </a:gridCol>
                <a:gridCol w="5513436">
                  <a:extLst>
                    <a:ext uri="{9D8B030D-6E8A-4147-A177-3AD203B41FA5}">
                      <a16:colId xmlns:a16="http://schemas.microsoft.com/office/drawing/2014/main" val="2364915179"/>
                    </a:ext>
                  </a:extLst>
                </a:gridCol>
              </a:tblGrid>
              <a:tr h="2718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No.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Student Name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Role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Main Responsibilities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1687642"/>
                  </a:ext>
                </a:extLst>
              </a:tr>
              <a:tr h="271815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KH" sz="1200" u="none" strike="noStrike" dirty="0">
                          <a:effectLst/>
                        </a:rPr>
                        <a:t>1</a:t>
                      </a:r>
                      <a:endParaRPr lang="en-KH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SOK Vandet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Project Manager &amp; Developer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- Lead the project planning and timeline management.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058696478"/>
                  </a:ext>
                </a:extLst>
              </a:tr>
              <a:tr h="271815">
                <a:tc vMerge="1">
                  <a:txBody>
                    <a:bodyPr/>
                    <a:lstStyle/>
                    <a:p>
                      <a:endParaRPr lang="en-K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- Develop the Flutter frontend and Java backend API.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17966158"/>
                  </a:ext>
                </a:extLst>
              </a:tr>
              <a:tr h="271815">
                <a:tc vMerge="1">
                  <a:txBody>
                    <a:bodyPr/>
                    <a:lstStyle/>
                    <a:p>
                      <a:endParaRPr lang="en-K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- Integrate Gemini API for Khmer text summarization.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76483090"/>
                  </a:ext>
                </a:extLst>
              </a:tr>
              <a:tr h="271815">
                <a:tc vMerge="1">
                  <a:txBody>
                    <a:bodyPr/>
                    <a:lstStyle/>
                    <a:p>
                      <a:endParaRPr lang="en-K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- Conduct testing and deployment.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3746081"/>
                  </a:ext>
                </a:extLst>
              </a:tr>
              <a:tr h="271815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KH" sz="1200" u="none" strike="noStrike" dirty="0">
                          <a:effectLst/>
                        </a:rPr>
                        <a:t>2</a:t>
                      </a:r>
                      <a:endParaRPr lang="en-KH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CHEM </a:t>
                      </a:r>
                      <a:r>
                        <a:rPr lang="en-US" sz="1200" u="none" strike="noStrike" dirty="0" err="1">
                          <a:effectLst/>
                        </a:rPr>
                        <a:t>Sydeth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Project Coordinator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- Coordinate communication among team members.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683033325"/>
                  </a:ext>
                </a:extLst>
              </a:tr>
              <a:tr h="271815">
                <a:tc vMerge="1">
                  <a:txBody>
                    <a:bodyPr/>
                    <a:lstStyle/>
                    <a:p>
                      <a:endParaRPr lang="en-K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- Prepare project documentation and reports.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89849048"/>
                  </a:ext>
                </a:extLst>
              </a:tr>
              <a:tr h="271815">
                <a:tc vMerge="1">
                  <a:txBody>
                    <a:bodyPr/>
                    <a:lstStyle/>
                    <a:p>
                      <a:endParaRPr lang="en-K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- Monitor progress and ensure task alignment.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90480505"/>
                  </a:ext>
                </a:extLst>
              </a:tr>
              <a:tr h="271815">
                <a:tc vMerge="1">
                  <a:txBody>
                    <a:bodyPr/>
                    <a:lstStyle/>
                    <a:p>
                      <a:endParaRPr lang="en-K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- Support presentation organization.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3283441"/>
                  </a:ext>
                </a:extLst>
              </a:tr>
              <a:tr h="271815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KH" sz="1200" u="none" strike="noStrike" dirty="0">
                          <a:effectLst/>
                        </a:rPr>
                        <a:t>3</a:t>
                      </a:r>
                      <a:endParaRPr lang="en-KH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RA Borey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Project Researcher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- Research on Khmer text summarization techniques.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34311127"/>
                  </a:ext>
                </a:extLst>
              </a:tr>
              <a:tr h="271815">
                <a:tc vMerge="1">
                  <a:txBody>
                    <a:bodyPr/>
                    <a:lstStyle/>
                    <a:p>
                      <a:endParaRPr lang="en-K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- Collect datasets and analyze model accuracy.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97934439"/>
                  </a:ext>
                </a:extLst>
              </a:tr>
              <a:tr h="271815">
                <a:tc vMerge="1">
                  <a:txBody>
                    <a:bodyPr/>
                    <a:lstStyle/>
                    <a:p>
                      <a:endParaRPr lang="en-K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- Provide technical insights and suggestions.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1855978"/>
                  </a:ext>
                </a:extLst>
              </a:tr>
              <a:tr h="271815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KH" sz="1200" u="none" strike="noStrike" dirty="0">
                          <a:effectLst/>
                        </a:rPr>
                        <a:t>4</a:t>
                      </a:r>
                      <a:endParaRPr lang="en-KH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SAT Seyla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UX/UI Designer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- Design user interface and experience flow (UX/UI).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231695652"/>
                  </a:ext>
                </a:extLst>
              </a:tr>
              <a:tr h="271815">
                <a:tc vMerge="1">
                  <a:txBody>
                    <a:bodyPr/>
                    <a:lstStyle/>
                    <a:p>
                      <a:endParaRPr lang="en-K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- Create mockups, wireframes, and interactive prototypes.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4794302"/>
                  </a:ext>
                </a:extLst>
              </a:tr>
              <a:tr h="271815">
                <a:tc vMerge="1">
                  <a:txBody>
                    <a:bodyPr/>
                    <a:lstStyle/>
                    <a:p>
                      <a:endParaRPr lang="en-K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- Ensure visual consistency and usability.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6156253"/>
                  </a:ext>
                </a:extLst>
              </a:tr>
              <a:tr h="271815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KH" sz="1200" u="none" strike="noStrike">
                          <a:effectLst/>
                        </a:rPr>
                        <a:t>5</a:t>
                      </a:r>
                      <a:endParaRPr lang="en-KH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SAMOEUN Ketya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Project Researcher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- Research AI/NLP methods for Khmer language.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57002034"/>
                  </a:ext>
                </a:extLst>
              </a:tr>
              <a:tr h="271815">
                <a:tc vMerge="1">
                  <a:txBody>
                    <a:bodyPr/>
                    <a:lstStyle/>
                    <a:p>
                      <a:endParaRPr lang="en-K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- Analyze summarization performance.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32474811"/>
                  </a:ext>
                </a:extLst>
              </a:tr>
              <a:tr h="271815">
                <a:tc vMerge="1">
                  <a:txBody>
                    <a:bodyPr/>
                    <a:lstStyle/>
                    <a:p>
                      <a:endParaRPr lang="en-K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- Collaborate with developers for testing and evaluation.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69277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13622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6D5F21-72E2-7E6F-6155-75D6D4E72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73921-318A-72CD-58BA-F3AEC0FFC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KH" sz="5400" b="1" dirty="0">
                <a:solidFill>
                  <a:schemeClr val="bg1"/>
                </a:solidFill>
                <a:latin typeface="+mn-lt"/>
              </a:rPr>
              <a:t>DEMO</a:t>
            </a:r>
            <a:endParaRPr lang="en-KH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987481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EBCE6-616F-D515-5F87-FD9F52FA7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5B392-9E22-667C-80A8-4881D784F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H" b="1" dirty="0"/>
              <a:t>Flutter UI</a:t>
            </a:r>
            <a:endParaRPr lang="en-KH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142F5B-018B-E347-7E95-DE52959CA0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377"/>
          <a:stretch>
            <a:fillRect/>
          </a:stretch>
        </p:blipFill>
        <p:spPr>
          <a:xfrm>
            <a:off x="5067535" y="254772"/>
            <a:ext cx="3011114" cy="6346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D0A7F02-E67F-528A-0713-D558CD46F0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310"/>
          <a:stretch>
            <a:fillRect/>
          </a:stretch>
        </p:blipFill>
        <p:spPr>
          <a:xfrm>
            <a:off x="8342686" y="283977"/>
            <a:ext cx="3011114" cy="631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8304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6" name="Picture 6" descr="This may contain: three people holding up a sign that says thank you">
            <a:extLst>
              <a:ext uri="{FF2B5EF4-FFF2-40B4-BE49-F238E27FC236}">
                <a16:creationId xmlns:a16="http://schemas.microsoft.com/office/drawing/2014/main" id="{69C9350F-386D-E12C-E079-97C85F070A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0" y="2330450"/>
            <a:ext cx="2984500" cy="219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8201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{47947EE7-0C25-A34B-9B45-717C1A6A25CB}tf10001122</Template>
  <TotalTime>1994</TotalTime>
  <Words>1262</Words>
  <Application>Microsoft Macintosh PowerPoint</Application>
  <PresentationFormat>Widescreen</PresentationFormat>
  <Paragraphs>189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Arial Black</vt:lpstr>
      <vt:lpstr>Calibri</vt:lpstr>
      <vt:lpstr>Calibri Light</vt:lpstr>
      <vt:lpstr>Kh Battambang</vt:lpstr>
      <vt:lpstr>Khmer OS Muol Light</vt:lpstr>
      <vt:lpstr>Office Theme</vt:lpstr>
      <vt:lpstr>PowerPoint Presentation</vt:lpstr>
      <vt:lpstr>Content</vt:lpstr>
      <vt:lpstr>I. Introduction</vt:lpstr>
      <vt:lpstr>1. Why Khmer Text Summarize?</vt:lpstr>
      <vt:lpstr>2. Why it’s importance?</vt:lpstr>
      <vt:lpstr>2. Why it’s importance?</vt:lpstr>
      <vt:lpstr>2. Future plan</vt:lpstr>
      <vt:lpstr>II. Processing Flow</vt:lpstr>
      <vt:lpstr>1. Processing flow</vt:lpstr>
      <vt:lpstr>2. Integration Flow</vt:lpstr>
      <vt:lpstr>3. AI Prompt</vt:lpstr>
      <vt:lpstr>3. AI Prompt (cont.)</vt:lpstr>
      <vt:lpstr>3. AI Prompt (cont.)</vt:lpstr>
      <vt:lpstr>3. AI Prompt (cont.)</vt:lpstr>
      <vt:lpstr>II. Pros and Cons</vt:lpstr>
      <vt:lpstr>Pros and Cons</vt:lpstr>
      <vt:lpstr>III. Responsibility</vt:lpstr>
      <vt:lpstr>Responsibility</vt:lpstr>
      <vt:lpstr>DEMO</vt:lpstr>
      <vt:lpstr>Flutter UI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Vandet Sok</dc:creator>
  <cp:lastModifiedBy>Microsoft Office User</cp:lastModifiedBy>
  <cp:revision>12</cp:revision>
  <dcterms:created xsi:type="dcterms:W3CDTF">2025-01-25T08:18:15Z</dcterms:created>
  <dcterms:modified xsi:type="dcterms:W3CDTF">2025-10-25T03:22:22Z</dcterms:modified>
</cp:coreProperties>
</file>